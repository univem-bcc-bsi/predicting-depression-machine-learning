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Proxima Nova Condensed Bold" charset="1" panose="02000506030000020004"/>
      <p:regular r:id="rId34"/>
    </p:embeddedFont>
    <p:embeddedFont>
      <p:font typeface="Touvlo" charset="1" panose="020B0604030403020204"/>
      <p:regular r:id="rId35"/>
    </p:embeddedFont>
    <p:embeddedFont>
      <p:font typeface="Touvlo Bold" charset="1" panose="020B0804030403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141092" y="1734414"/>
            <a:ext cx="10586857" cy="6818173"/>
          </a:xfrm>
          <a:custGeom>
            <a:avLst/>
            <a:gdLst/>
            <a:ahLst/>
            <a:cxnLst/>
            <a:rect r="r" b="b" t="t" l="l"/>
            <a:pathLst>
              <a:path h="6818173" w="10586857">
                <a:moveTo>
                  <a:pt x="0" y="0"/>
                </a:moveTo>
                <a:lnTo>
                  <a:pt x="10586857" y="0"/>
                </a:lnTo>
                <a:lnTo>
                  <a:pt x="10586857" y="6818172"/>
                </a:lnTo>
                <a:lnTo>
                  <a:pt x="0" y="6818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804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74799" y="240016"/>
            <a:ext cx="12390481" cy="4418368"/>
            <a:chOff x="0" y="0"/>
            <a:chExt cx="16520641" cy="589115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09550"/>
              <a:ext cx="16520641" cy="5441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99"/>
                </a:lnSpc>
              </a:pPr>
              <a:r>
                <a:rPr lang="en-US" b="true" sz="10499">
                  <a:solidFill>
                    <a:srgbClr val="E9456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Predição de indivíduos com Depressão com Machine Learning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364202"/>
              <a:ext cx="13308234" cy="5269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23"/>
                </a:lnSpc>
              </a:pPr>
              <a:r>
                <a:rPr lang="en-US" sz="2373">
                  <a:solidFill>
                    <a:srgbClr val="F0F0F0"/>
                  </a:solidFill>
                  <a:latin typeface="Touvlo"/>
                  <a:ea typeface="Touvlo"/>
                  <a:cs typeface="Touvlo"/>
                  <a:sym typeface="Touvlo"/>
                </a:rPr>
                <a:t>Apresentação do projeto final de Machine Learning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74799" y="6999795"/>
            <a:ext cx="12370371" cy="155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9"/>
              </a:lnSpc>
            </a:pPr>
            <a:r>
              <a:rPr lang="en-US" sz="2942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Lucas de Oliveira Telles</a:t>
            </a:r>
          </a:p>
          <a:p>
            <a:pPr algn="l">
              <a:lnSpc>
                <a:spcPts val="4119"/>
              </a:lnSpc>
            </a:pPr>
            <a:r>
              <a:rPr lang="en-US" sz="2942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Erick Mathias Valu</a:t>
            </a:r>
          </a:p>
          <a:p>
            <a:pPr algn="l" marL="0" indent="0" lvl="0">
              <a:lnSpc>
                <a:spcPts val="4119"/>
              </a:lnSpc>
            </a:pPr>
            <a:r>
              <a:rPr lang="en-US" sz="2942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Gabriel Vitor Cedran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966" y="539821"/>
            <a:ext cx="16208743" cy="3009323"/>
            <a:chOff x="0" y="0"/>
            <a:chExt cx="21611658" cy="401243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19075"/>
              <a:ext cx="16520641" cy="2113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99"/>
                </a:lnSpc>
              </a:pPr>
              <a:r>
                <a:rPr lang="en-US" b="true" sz="11499">
                  <a:solidFill>
                    <a:srgbClr val="E94560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Objetivo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665374" y="2612675"/>
              <a:ext cx="20946284" cy="1399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48"/>
                </a:lnSpc>
              </a:pPr>
              <a:r>
                <a:rPr lang="en-US" sz="3106">
                  <a:solidFill>
                    <a:srgbClr val="F0F0F0"/>
                  </a:solidFill>
                  <a:latin typeface="Touvlo"/>
                  <a:ea typeface="Touvlo"/>
                  <a:cs typeface="Touvlo"/>
                  <a:sym typeface="Touvlo"/>
                </a:rPr>
                <a:t>Construir um modelo que faça a predição de indivíduos que possuam ou não depressão baseados em dados retirados de entrevistas de saúde mental.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311410"/>
            <a:ext cx="16230600" cy="160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O modelo deve analisar os dados disponibilizados da entrevista e definir se o individuo possui ou não depressão. A eficacia do modelo deve ser medida com o Accuracy Score.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680440"/>
            <a:ext cx="15720009" cy="106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Por fim, deve ser gerado um arquivo “submission.csv” com as definições do modelo para dados separados para  prova.</a:t>
            </a:r>
          </a:p>
        </p:txBody>
      </p:sp>
      <p:grpSp>
        <p:nvGrpSpPr>
          <p:cNvPr name="Group 7" id="7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39966" y="758896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Dados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474053" y="3281610"/>
            <a:ext cx="2120541" cy="2687488"/>
          </a:xfrm>
          <a:custGeom>
            <a:avLst/>
            <a:gdLst/>
            <a:ahLst/>
            <a:cxnLst/>
            <a:rect r="r" b="b" t="t" l="l"/>
            <a:pathLst>
              <a:path h="2687488" w="2120541">
                <a:moveTo>
                  <a:pt x="0" y="0"/>
                </a:moveTo>
                <a:lnTo>
                  <a:pt x="2120541" y="0"/>
                </a:lnTo>
                <a:lnTo>
                  <a:pt x="2120541" y="2687488"/>
                </a:lnTo>
                <a:lnTo>
                  <a:pt x="0" y="2687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57392" y="6157085"/>
            <a:ext cx="2553862" cy="69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48"/>
              </a:lnSpc>
            </a:pPr>
            <a:r>
              <a:rPr lang="en-US" b="true" sz="4106">
                <a:solidFill>
                  <a:srgbClr val="F0F0F0"/>
                </a:solidFill>
                <a:latin typeface="Touvlo Bold"/>
                <a:ea typeface="Touvlo Bold"/>
                <a:cs typeface="Touvlo Bold"/>
                <a:sym typeface="Touvlo Bold"/>
              </a:rPr>
              <a:t>Train.csv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9260" y="6877733"/>
            <a:ext cx="8297642" cy="44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8"/>
              </a:lnSpc>
            </a:pPr>
            <a:r>
              <a:rPr lang="en-US" sz="27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Dados para treinamento e teste de modelo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771695" y="3281610"/>
            <a:ext cx="2120541" cy="2687488"/>
          </a:xfrm>
          <a:custGeom>
            <a:avLst/>
            <a:gdLst/>
            <a:ahLst/>
            <a:cxnLst/>
            <a:rect r="r" b="b" t="t" l="l"/>
            <a:pathLst>
              <a:path h="2687488" w="2120541">
                <a:moveTo>
                  <a:pt x="0" y="0"/>
                </a:moveTo>
                <a:lnTo>
                  <a:pt x="2120541" y="0"/>
                </a:lnTo>
                <a:lnTo>
                  <a:pt x="2120541" y="2687488"/>
                </a:lnTo>
                <a:lnTo>
                  <a:pt x="0" y="2687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555034" y="6157085"/>
            <a:ext cx="2553862" cy="69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48"/>
              </a:lnSpc>
            </a:pPr>
            <a:r>
              <a:rPr lang="en-US" b="true" sz="4106">
                <a:solidFill>
                  <a:srgbClr val="F0F0F0"/>
                </a:solidFill>
                <a:latin typeface="Touvlo Bold"/>
                <a:ea typeface="Touvlo Bold"/>
                <a:cs typeface="Touvlo Bold"/>
                <a:sym typeface="Touvlo Bold"/>
              </a:rPr>
              <a:t>Test.csv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6877733"/>
            <a:ext cx="8840705" cy="44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8"/>
              </a:lnSpc>
            </a:pPr>
            <a:r>
              <a:rPr lang="en-US" sz="27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Dados para prova, resultados no submission.csv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Pipeline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4081258"/>
            <a:ext cx="18021487" cy="1917902"/>
            <a:chOff x="0" y="0"/>
            <a:chExt cx="24028649" cy="255720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579439"/>
              <a:ext cx="4801179" cy="1330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68"/>
                </a:lnSpc>
              </a:pPr>
              <a:r>
                <a:rPr lang="en-US" sz="2906">
                  <a:solidFill>
                    <a:srgbClr val="F0F0F0"/>
                  </a:solidFill>
                  <a:latin typeface="Touvlo"/>
                  <a:ea typeface="Touvlo"/>
                  <a:cs typeface="Touvlo"/>
                  <a:sym typeface="Touvlo"/>
                </a:rPr>
                <a:t>Importação e </a:t>
              </a:r>
            </a:p>
            <a:p>
              <a:pPr algn="ctr" marL="0" indent="0" lvl="0">
                <a:lnSpc>
                  <a:spcPts val="4068"/>
                </a:lnSpc>
              </a:pPr>
              <a:r>
                <a:rPr lang="en-US" sz="2906">
                  <a:solidFill>
                    <a:srgbClr val="F0F0F0"/>
                  </a:solidFill>
                  <a:latin typeface="Touvlo"/>
                  <a:ea typeface="Touvlo"/>
                  <a:cs typeface="Touvlo"/>
                  <a:sym typeface="Touvlo"/>
                </a:rPr>
                <a:t>analise dos dados</a:t>
              </a:r>
            </a:p>
          </p:txBody>
        </p:sp>
        <p:sp>
          <p:nvSpPr>
            <p:cNvPr name="AutoShape 8" id="8"/>
            <p:cNvSpPr/>
            <p:nvPr/>
          </p:nvSpPr>
          <p:spPr>
            <a:xfrm flipV="true">
              <a:off x="2129095" y="2531803"/>
              <a:ext cx="6523580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5938968" y="922339"/>
              <a:ext cx="5427414" cy="644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68"/>
                </a:lnSpc>
              </a:pPr>
              <a:r>
                <a:rPr lang="en-US" sz="2906">
                  <a:solidFill>
                    <a:srgbClr val="F0F0F0"/>
                  </a:solidFill>
                  <a:latin typeface="Touvlo"/>
                  <a:ea typeface="Touvlo"/>
                  <a:cs typeface="Touvlo"/>
                  <a:sym typeface="Touvlo"/>
                </a:rPr>
                <a:t>Pre-processamento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2077655" y="579439"/>
              <a:ext cx="5427414" cy="1330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68"/>
                </a:lnSpc>
              </a:pPr>
              <a:r>
                <a:rPr lang="en-US" sz="2906">
                  <a:solidFill>
                    <a:srgbClr val="F0F0F0"/>
                  </a:solidFill>
                  <a:latin typeface="Touvlo"/>
                  <a:ea typeface="Touvlo"/>
                  <a:cs typeface="Touvlo"/>
                  <a:sym typeface="Touvlo"/>
                </a:rPr>
                <a:t>Treinamentos  e definição do modelo</a:t>
              </a:r>
            </a:p>
          </p:txBody>
        </p:sp>
        <p:sp>
          <p:nvSpPr>
            <p:cNvPr name="AutoShape 11" id="11"/>
            <p:cNvSpPr/>
            <p:nvPr/>
          </p:nvSpPr>
          <p:spPr>
            <a:xfrm flipV="true">
              <a:off x="8463847" y="2531803"/>
              <a:ext cx="6523580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AutoShape 12" id="12"/>
            <p:cNvSpPr/>
            <p:nvPr/>
          </p:nvSpPr>
          <p:spPr>
            <a:xfrm flipV="true">
              <a:off x="14791362" y="2531803"/>
              <a:ext cx="6523580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diamond" len="lg" w="lg"/>
              <a:tailEnd type="diamond" len="lg" w="lg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18601235" y="-57150"/>
              <a:ext cx="5427414" cy="2016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68"/>
                </a:lnSpc>
              </a:pPr>
              <a:r>
                <a:rPr lang="en-US" sz="2906">
                  <a:solidFill>
                    <a:srgbClr val="F0F0F0"/>
                  </a:solidFill>
                  <a:latin typeface="Touvlo"/>
                  <a:ea typeface="Touvlo"/>
                  <a:cs typeface="Touvlo"/>
                  <a:sym typeface="Touvlo"/>
                </a:rPr>
                <a:t>Aplicacao nos dados de Prova e submission.csv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Analise dos dados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68354"/>
            <a:ext cx="16230600" cy="106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Neste primeiro momento foi realizada a avaliação dos dados que vão ser utilizados para treinamento do modelo.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477687"/>
            <a:ext cx="16230600" cy="323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Para tal, foram realizados os seguintes passos: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Importação dos datasets em dataframes do pandas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Verificação das dimensões dos datasets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Visualização dos datasets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Analise das colunas e informações 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Verificação da quantidade de valores nulos por coluna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13508" y="3997650"/>
            <a:ext cx="10247773" cy="4253028"/>
          </a:xfrm>
          <a:custGeom>
            <a:avLst/>
            <a:gdLst/>
            <a:ahLst/>
            <a:cxnLst/>
            <a:rect r="r" b="b" t="t" l="l"/>
            <a:pathLst>
              <a:path h="4253028" w="10247773">
                <a:moveTo>
                  <a:pt x="0" y="0"/>
                </a:moveTo>
                <a:lnTo>
                  <a:pt x="10247773" y="0"/>
                </a:lnTo>
                <a:lnTo>
                  <a:pt x="10247773" y="4253028"/>
                </a:lnTo>
                <a:lnTo>
                  <a:pt x="0" y="4253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Analise dos dados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894" y="2262733"/>
            <a:ext cx="16561000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Realizando a importação dos datasets para dataframes do pandas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43115" y="3307820"/>
            <a:ext cx="9201769" cy="5197806"/>
          </a:xfrm>
          <a:custGeom>
            <a:avLst/>
            <a:gdLst/>
            <a:ahLst/>
            <a:cxnLst/>
            <a:rect r="r" b="b" t="t" l="l"/>
            <a:pathLst>
              <a:path h="5197806" w="9201769">
                <a:moveTo>
                  <a:pt x="0" y="0"/>
                </a:moveTo>
                <a:lnTo>
                  <a:pt x="9201770" y="0"/>
                </a:lnTo>
                <a:lnTo>
                  <a:pt x="9201770" y="5197806"/>
                </a:lnTo>
                <a:lnTo>
                  <a:pt x="0" y="5197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Analise dos dados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894" y="2262733"/>
            <a:ext cx="16561000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Verificação das dimensões dos datasets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19943" y="2936234"/>
            <a:ext cx="8448115" cy="3173994"/>
          </a:xfrm>
          <a:custGeom>
            <a:avLst/>
            <a:gdLst/>
            <a:ahLst/>
            <a:cxnLst/>
            <a:rect r="r" b="b" t="t" l="l"/>
            <a:pathLst>
              <a:path h="3173994" w="8448115">
                <a:moveTo>
                  <a:pt x="0" y="0"/>
                </a:moveTo>
                <a:lnTo>
                  <a:pt x="8448114" y="0"/>
                </a:lnTo>
                <a:lnTo>
                  <a:pt x="8448114" y="3173995"/>
                </a:lnTo>
                <a:lnTo>
                  <a:pt x="0" y="3173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19943" y="6262629"/>
            <a:ext cx="8448115" cy="3173994"/>
          </a:xfrm>
          <a:custGeom>
            <a:avLst/>
            <a:gdLst/>
            <a:ahLst/>
            <a:cxnLst/>
            <a:rect r="r" b="b" t="t" l="l"/>
            <a:pathLst>
              <a:path h="3173994" w="8448115">
                <a:moveTo>
                  <a:pt x="0" y="0"/>
                </a:moveTo>
                <a:lnTo>
                  <a:pt x="8448114" y="0"/>
                </a:lnTo>
                <a:lnTo>
                  <a:pt x="8448114" y="3173994"/>
                </a:lnTo>
                <a:lnTo>
                  <a:pt x="0" y="31739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Analise dos dados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894" y="2262733"/>
            <a:ext cx="16561000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Visualizando os datasets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3008408"/>
            <a:ext cx="6460752" cy="6249892"/>
          </a:xfrm>
          <a:custGeom>
            <a:avLst/>
            <a:gdLst/>
            <a:ahLst/>
            <a:cxnLst/>
            <a:rect r="r" b="b" t="t" l="l"/>
            <a:pathLst>
              <a:path h="6249892" w="6460752">
                <a:moveTo>
                  <a:pt x="0" y="0"/>
                </a:moveTo>
                <a:lnTo>
                  <a:pt x="6460752" y="0"/>
                </a:lnTo>
                <a:lnTo>
                  <a:pt x="6460752" y="6249892"/>
                </a:lnTo>
                <a:lnTo>
                  <a:pt x="0" y="6249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999218"/>
            <a:ext cx="6460752" cy="6249892"/>
          </a:xfrm>
          <a:custGeom>
            <a:avLst/>
            <a:gdLst/>
            <a:ahLst/>
            <a:cxnLst/>
            <a:rect r="r" b="b" t="t" l="l"/>
            <a:pathLst>
              <a:path h="6249892" w="6460752">
                <a:moveTo>
                  <a:pt x="0" y="0"/>
                </a:moveTo>
                <a:lnTo>
                  <a:pt x="6460752" y="0"/>
                </a:lnTo>
                <a:lnTo>
                  <a:pt x="6460752" y="6249892"/>
                </a:lnTo>
                <a:lnTo>
                  <a:pt x="0" y="62498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Analise dos dados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894" y="2262733"/>
            <a:ext cx="16561000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Visualizando as colunas e informações dos datasets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24598" y="3098481"/>
            <a:ext cx="7812796" cy="6051366"/>
          </a:xfrm>
          <a:custGeom>
            <a:avLst/>
            <a:gdLst/>
            <a:ahLst/>
            <a:cxnLst/>
            <a:rect r="r" b="b" t="t" l="l"/>
            <a:pathLst>
              <a:path h="6051366" w="7812796">
                <a:moveTo>
                  <a:pt x="0" y="0"/>
                </a:moveTo>
                <a:lnTo>
                  <a:pt x="7812796" y="0"/>
                </a:lnTo>
                <a:lnTo>
                  <a:pt x="7812796" y="6051366"/>
                </a:lnTo>
                <a:lnTo>
                  <a:pt x="0" y="6051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05098" y="3098481"/>
            <a:ext cx="7812796" cy="6051366"/>
          </a:xfrm>
          <a:custGeom>
            <a:avLst/>
            <a:gdLst/>
            <a:ahLst/>
            <a:cxnLst/>
            <a:rect r="r" b="b" t="t" l="l"/>
            <a:pathLst>
              <a:path h="6051366" w="7812796">
                <a:moveTo>
                  <a:pt x="0" y="0"/>
                </a:moveTo>
                <a:lnTo>
                  <a:pt x="7812796" y="0"/>
                </a:lnTo>
                <a:lnTo>
                  <a:pt x="7812796" y="6051366"/>
                </a:lnTo>
                <a:lnTo>
                  <a:pt x="0" y="6051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Analise dos dados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894" y="2262733"/>
            <a:ext cx="16561000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Visualizando a quantidade de valores nulos por coluna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Pre-processamento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00450"/>
            <a:ext cx="16230600" cy="106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Apos a visualização e entendimento dos dados, foi realizada a etapa de preparação desses mesmos dados para serem utilizados para treinamento dos modelos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389760"/>
            <a:ext cx="16230600" cy="377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Para essa finalidade, foram realizados os seguintes passos: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Unificação de features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Exclusão de features desnecessárias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Preenchimento de valores nulos das features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Transformação de features categóricas para numéricas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Aplicação das tratativas nos datasets e visualização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Escalonamento das features para treinamento dos modelo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68160" y="3654874"/>
            <a:ext cx="12751680" cy="5603426"/>
          </a:xfrm>
          <a:custGeom>
            <a:avLst/>
            <a:gdLst/>
            <a:ahLst/>
            <a:cxnLst/>
            <a:rect r="r" b="b" t="t" l="l"/>
            <a:pathLst>
              <a:path h="5603426" w="12751680">
                <a:moveTo>
                  <a:pt x="0" y="0"/>
                </a:moveTo>
                <a:lnTo>
                  <a:pt x="12751680" y="0"/>
                </a:lnTo>
                <a:lnTo>
                  <a:pt x="12751680" y="5603426"/>
                </a:lnTo>
                <a:lnTo>
                  <a:pt x="0" y="5603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Pre-processamento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894" y="2262733"/>
            <a:ext cx="16802406" cy="106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Unificando Work/Academic Pressure e Study/Job Satisfaction em  uma feature cada e exclusão de features desnecessárias para treinamento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43513" y="2804194"/>
            <a:ext cx="10034949" cy="4409623"/>
          </a:xfrm>
          <a:custGeom>
            <a:avLst/>
            <a:gdLst/>
            <a:ahLst/>
            <a:cxnLst/>
            <a:rect r="r" b="b" t="t" l="l"/>
            <a:pathLst>
              <a:path h="4409623" w="10034949">
                <a:moveTo>
                  <a:pt x="0" y="0"/>
                </a:moveTo>
                <a:lnTo>
                  <a:pt x="10034948" y="0"/>
                </a:lnTo>
                <a:lnTo>
                  <a:pt x="10034948" y="4409623"/>
                </a:lnTo>
                <a:lnTo>
                  <a:pt x="0" y="4409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43513" y="7213817"/>
            <a:ext cx="10037205" cy="2538300"/>
          </a:xfrm>
          <a:custGeom>
            <a:avLst/>
            <a:gdLst/>
            <a:ahLst/>
            <a:cxnLst/>
            <a:rect r="r" b="b" t="t" l="l"/>
            <a:pathLst>
              <a:path h="2538300" w="10037205">
                <a:moveTo>
                  <a:pt x="0" y="0"/>
                </a:moveTo>
                <a:lnTo>
                  <a:pt x="10037205" y="0"/>
                </a:lnTo>
                <a:lnTo>
                  <a:pt x="10037205" y="2538300"/>
                </a:lnTo>
                <a:lnTo>
                  <a:pt x="0" y="253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24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Pre-processamento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894" y="2174532"/>
            <a:ext cx="16802406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Preenchimento de valores nulos das features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77264" y="3500432"/>
            <a:ext cx="12733471" cy="5047419"/>
          </a:xfrm>
          <a:custGeom>
            <a:avLst/>
            <a:gdLst/>
            <a:ahLst/>
            <a:cxnLst/>
            <a:rect r="r" b="b" t="t" l="l"/>
            <a:pathLst>
              <a:path h="5047419" w="12733471">
                <a:moveTo>
                  <a:pt x="0" y="0"/>
                </a:moveTo>
                <a:lnTo>
                  <a:pt x="12733472" y="0"/>
                </a:lnTo>
                <a:lnTo>
                  <a:pt x="12733472" y="5047420"/>
                </a:lnTo>
                <a:lnTo>
                  <a:pt x="0" y="5047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Pre-processamento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894" y="2174532"/>
            <a:ext cx="17007889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Conversao de features categoricas para numericas e preenchimento de dados faltantes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29257" y="3048400"/>
            <a:ext cx="11463163" cy="6209900"/>
          </a:xfrm>
          <a:custGeom>
            <a:avLst/>
            <a:gdLst/>
            <a:ahLst/>
            <a:cxnLst/>
            <a:rect r="r" b="b" t="t" l="l"/>
            <a:pathLst>
              <a:path h="6209900" w="11463163">
                <a:moveTo>
                  <a:pt x="0" y="0"/>
                </a:moveTo>
                <a:lnTo>
                  <a:pt x="11463163" y="0"/>
                </a:lnTo>
                <a:lnTo>
                  <a:pt x="11463163" y="6209900"/>
                </a:lnTo>
                <a:lnTo>
                  <a:pt x="0" y="620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Pre-processamento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894" y="2174532"/>
            <a:ext cx="17007889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Conversão de features categóricas para numéricas e preenchimento de dados faltantes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26922" y="3737466"/>
            <a:ext cx="14034157" cy="4415354"/>
          </a:xfrm>
          <a:custGeom>
            <a:avLst/>
            <a:gdLst/>
            <a:ahLst/>
            <a:cxnLst/>
            <a:rect r="r" b="b" t="t" l="l"/>
            <a:pathLst>
              <a:path h="4415354" w="14034157">
                <a:moveTo>
                  <a:pt x="0" y="0"/>
                </a:moveTo>
                <a:lnTo>
                  <a:pt x="14034156" y="0"/>
                </a:lnTo>
                <a:lnTo>
                  <a:pt x="14034156" y="4415354"/>
                </a:lnTo>
                <a:lnTo>
                  <a:pt x="0" y="4415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Pre-processamento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894" y="2174532"/>
            <a:ext cx="17007889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Conversão de features categóricas para numéricas e preenchimento de dados faltantes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52011" y="3613340"/>
            <a:ext cx="10383977" cy="4557412"/>
          </a:xfrm>
          <a:custGeom>
            <a:avLst/>
            <a:gdLst/>
            <a:ahLst/>
            <a:cxnLst/>
            <a:rect r="r" b="b" t="t" l="l"/>
            <a:pathLst>
              <a:path h="4557412" w="10383977">
                <a:moveTo>
                  <a:pt x="0" y="0"/>
                </a:moveTo>
                <a:lnTo>
                  <a:pt x="10383978" y="0"/>
                </a:lnTo>
                <a:lnTo>
                  <a:pt x="10383978" y="4557412"/>
                </a:lnTo>
                <a:lnTo>
                  <a:pt x="0" y="4557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Pre-processamento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894" y="2174532"/>
            <a:ext cx="17007889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Aplicando as funções tratativas nos datasets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254623"/>
            <a:ext cx="6701391" cy="5739081"/>
          </a:xfrm>
          <a:custGeom>
            <a:avLst/>
            <a:gdLst/>
            <a:ahLst/>
            <a:cxnLst/>
            <a:rect r="r" b="b" t="t" l="l"/>
            <a:pathLst>
              <a:path h="5739081" w="6701391">
                <a:moveTo>
                  <a:pt x="0" y="0"/>
                </a:moveTo>
                <a:lnTo>
                  <a:pt x="6701391" y="0"/>
                </a:lnTo>
                <a:lnTo>
                  <a:pt x="6701391" y="5739081"/>
                </a:lnTo>
                <a:lnTo>
                  <a:pt x="0" y="5739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33435" y="3254623"/>
            <a:ext cx="6701391" cy="5739081"/>
          </a:xfrm>
          <a:custGeom>
            <a:avLst/>
            <a:gdLst/>
            <a:ahLst/>
            <a:cxnLst/>
            <a:rect r="r" b="b" t="t" l="l"/>
            <a:pathLst>
              <a:path h="5739081" w="6701391">
                <a:moveTo>
                  <a:pt x="0" y="0"/>
                </a:moveTo>
                <a:lnTo>
                  <a:pt x="6701391" y="0"/>
                </a:lnTo>
                <a:lnTo>
                  <a:pt x="6701391" y="5739081"/>
                </a:lnTo>
                <a:lnTo>
                  <a:pt x="0" y="573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Pre-processamento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894" y="2174532"/>
            <a:ext cx="17007889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Visualização dos dados apos as tratativas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84883" y="2879589"/>
            <a:ext cx="13118234" cy="3206859"/>
          </a:xfrm>
          <a:custGeom>
            <a:avLst/>
            <a:gdLst/>
            <a:ahLst/>
            <a:cxnLst/>
            <a:rect r="r" b="b" t="t" l="l"/>
            <a:pathLst>
              <a:path h="3206859" w="13118234">
                <a:moveTo>
                  <a:pt x="0" y="0"/>
                </a:moveTo>
                <a:lnTo>
                  <a:pt x="13118234" y="0"/>
                </a:lnTo>
                <a:lnTo>
                  <a:pt x="13118234" y="3206859"/>
                </a:lnTo>
                <a:lnTo>
                  <a:pt x="0" y="3206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84883" y="6267423"/>
            <a:ext cx="13115438" cy="3193957"/>
          </a:xfrm>
          <a:custGeom>
            <a:avLst/>
            <a:gdLst/>
            <a:ahLst/>
            <a:cxnLst/>
            <a:rect r="r" b="b" t="t" l="l"/>
            <a:pathLst>
              <a:path h="3193957" w="13115438">
                <a:moveTo>
                  <a:pt x="0" y="0"/>
                </a:moveTo>
                <a:lnTo>
                  <a:pt x="13115439" y="0"/>
                </a:lnTo>
                <a:lnTo>
                  <a:pt x="13115439" y="3193957"/>
                </a:lnTo>
                <a:lnTo>
                  <a:pt x="0" y="3193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Pre-processamento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6894" y="2174532"/>
            <a:ext cx="17007889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Visualização dos dados apos as tratativas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86281" y="3279840"/>
            <a:ext cx="13115438" cy="6064475"/>
          </a:xfrm>
          <a:custGeom>
            <a:avLst/>
            <a:gdLst/>
            <a:ahLst/>
            <a:cxnLst/>
            <a:rect r="r" b="b" t="t" l="l"/>
            <a:pathLst>
              <a:path h="6064475" w="13115438">
                <a:moveTo>
                  <a:pt x="0" y="0"/>
                </a:moveTo>
                <a:lnTo>
                  <a:pt x="13115438" y="0"/>
                </a:lnTo>
                <a:lnTo>
                  <a:pt x="13115438" y="6064475"/>
                </a:lnTo>
                <a:lnTo>
                  <a:pt x="0" y="6064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2390481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Pre-processamento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056" y="2057250"/>
            <a:ext cx="17007889" cy="106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Separação das features e do target e Scaling das features para treinamento dos modelos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6894" y="789545"/>
            <a:ext cx="14269184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Treinamento e Modelos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65750"/>
            <a:ext cx="16230600" cy="160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Com os dados tratados e preparados para o treinamento, sera realizado um teste de treinamento em diversos modelos de aprendizagem supervisionada e o que tiver melhor Accuracy Score sera o escolhido para gerar o submission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753912"/>
            <a:ext cx="16230600" cy="269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Assim foi realizado: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Separação dos dados de treinamento e de testes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Definição e instanciamento dos modelos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Treinamento de todos os modelos com os mesmos dados de treino e teste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Definição do melhor modelo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952694"/>
            <a:ext cx="15698914" cy="1853209"/>
          </a:xfrm>
          <a:custGeom>
            <a:avLst/>
            <a:gdLst/>
            <a:ahLst/>
            <a:cxnLst/>
            <a:rect r="r" b="b" t="t" l="l"/>
            <a:pathLst>
              <a:path h="1853209" w="15698914">
                <a:moveTo>
                  <a:pt x="0" y="0"/>
                </a:moveTo>
                <a:lnTo>
                  <a:pt x="15698914" y="0"/>
                </a:lnTo>
                <a:lnTo>
                  <a:pt x="15698914" y="1853209"/>
                </a:lnTo>
                <a:lnTo>
                  <a:pt x="0" y="1853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6690950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Treinamento e Modelos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056" y="2438724"/>
            <a:ext cx="17007889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Separação dos dados de treinamento e de testes com train_test_split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79822" y="4037478"/>
            <a:ext cx="12045094" cy="4173371"/>
          </a:xfrm>
          <a:custGeom>
            <a:avLst/>
            <a:gdLst/>
            <a:ahLst/>
            <a:cxnLst/>
            <a:rect r="r" b="b" t="t" l="l"/>
            <a:pathLst>
              <a:path h="4173371" w="12045094">
                <a:moveTo>
                  <a:pt x="0" y="0"/>
                </a:moveTo>
                <a:lnTo>
                  <a:pt x="12045094" y="0"/>
                </a:lnTo>
                <a:lnTo>
                  <a:pt x="12045094" y="4173371"/>
                </a:lnTo>
                <a:lnTo>
                  <a:pt x="0" y="41733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6690950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Treinamento e Modelos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056" y="2394830"/>
            <a:ext cx="17007889" cy="106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Definição e instanciamento dos modelos para aprendizagem supervisionada. </a:t>
            </a:r>
          </a:p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(KNN, SVM, Arvore de Decisão, Regressão Logística e Random Forest)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89086" y="3586558"/>
            <a:ext cx="13109827" cy="5671742"/>
          </a:xfrm>
          <a:custGeom>
            <a:avLst/>
            <a:gdLst/>
            <a:ahLst/>
            <a:cxnLst/>
            <a:rect r="r" b="b" t="t" l="l"/>
            <a:pathLst>
              <a:path h="5671742" w="13109827">
                <a:moveTo>
                  <a:pt x="0" y="0"/>
                </a:moveTo>
                <a:lnTo>
                  <a:pt x="13109828" y="0"/>
                </a:lnTo>
                <a:lnTo>
                  <a:pt x="13109828" y="5671742"/>
                </a:lnTo>
                <a:lnTo>
                  <a:pt x="0" y="5671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6690950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Treinamento e Modelos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056" y="2409369"/>
            <a:ext cx="17007889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Treinamento de todos os modelos com os dados de treino e teste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76121" y="3987550"/>
            <a:ext cx="10052495" cy="4883892"/>
          </a:xfrm>
          <a:custGeom>
            <a:avLst/>
            <a:gdLst/>
            <a:ahLst/>
            <a:cxnLst/>
            <a:rect r="r" b="b" t="t" l="l"/>
            <a:pathLst>
              <a:path h="4883892" w="10052495">
                <a:moveTo>
                  <a:pt x="0" y="0"/>
                </a:moveTo>
                <a:lnTo>
                  <a:pt x="10052496" y="0"/>
                </a:lnTo>
                <a:lnTo>
                  <a:pt x="10052496" y="4883892"/>
                </a:lnTo>
                <a:lnTo>
                  <a:pt x="0" y="4883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6690950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Treinamento e Modelos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056" y="2409369"/>
            <a:ext cx="17007889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Definição do melhor modelo - Random Forest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6894" y="789545"/>
            <a:ext cx="14269184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Geração do Submission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08675"/>
            <a:ext cx="16230600" cy="106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Por fim, com o modelo com maior precisão para classificação destes dados, foram realizadas as etapas para geração do submission.csv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86350"/>
            <a:ext cx="16230600" cy="215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Os passos realizados foram: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Escalonamento dos dados de prova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Predição da classificação do modelo para os dados de prova</a:t>
            </a:r>
          </a:p>
          <a:p>
            <a:pPr algn="l" marL="670616" indent="-335308" lvl="1">
              <a:lnSpc>
                <a:spcPts val="4348"/>
              </a:lnSpc>
              <a:buFont typeface="Arial"/>
              <a:buChar char="•"/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Exportação e visualização do arquivo submission.csv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54237" y="3577880"/>
            <a:ext cx="7810820" cy="6125423"/>
          </a:xfrm>
          <a:custGeom>
            <a:avLst/>
            <a:gdLst/>
            <a:ahLst/>
            <a:cxnLst/>
            <a:rect r="r" b="b" t="t" l="l"/>
            <a:pathLst>
              <a:path h="6125423" w="7810820">
                <a:moveTo>
                  <a:pt x="0" y="0"/>
                </a:moveTo>
                <a:lnTo>
                  <a:pt x="7810820" y="0"/>
                </a:lnTo>
                <a:lnTo>
                  <a:pt x="7810820" y="6125423"/>
                </a:lnTo>
                <a:lnTo>
                  <a:pt x="0" y="6125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4269184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Geração do Submission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4347" y="2262733"/>
            <a:ext cx="16230600" cy="106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Escalonamento dos dados de teste, predição do melhor modelo e exportação do arquivo submission.csv com as respostas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64722" y="963722"/>
            <a:ext cx="358556" cy="18288000"/>
            <a:chOff x="0" y="0"/>
            <a:chExt cx="94434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34" cy="4816592"/>
            </a:xfrm>
            <a:custGeom>
              <a:avLst/>
              <a:gdLst/>
              <a:ahLst/>
              <a:cxnLst/>
              <a:rect r="r" b="b" t="t" l="l"/>
              <a:pathLst>
                <a:path h="4816592" w="94434">
                  <a:moveTo>
                    <a:pt x="0" y="0"/>
                  </a:moveTo>
                  <a:lnTo>
                    <a:pt x="94434" y="0"/>
                  </a:lnTo>
                  <a:lnTo>
                    <a:pt x="94434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CA224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94434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846575" y="4292213"/>
            <a:ext cx="4297942" cy="4297942"/>
          </a:xfrm>
          <a:custGeom>
            <a:avLst/>
            <a:gdLst/>
            <a:ahLst/>
            <a:cxnLst/>
            <a:rect r="r" b="b" t="t" l="l"/>
            <a:pathLst>
              <a:path h="4297942" w="4297942">
                <a:moveTo>
                  <a:pt x="0" y="0"/>
                </a:moveTo>
                <a:lnTo>
                  <a:pt x="4297942" y="0"/>
                </a:lnTo>
                <a:lnTo>
                  <a:pt x="4297942" y="4297942"/>
                </a:lnTo>
                <a:lnTo>
                  <a:pt x="0" y="4297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94" y="789545"/>
            <a:ext cx="14269184" cy="153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99"/>
              </a:lnSpc>
            </a:pPr>
            <a:r>
              <a:rPr lang="en-US" b="true" sz="11499">
                <a:solidFill>
                  <a:srgbClr val="E9456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Obrigado!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4347" y="2805658"/>
            <a:ext cx="16230600" cy="5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8"/>
              </a:lnSpc>
            </a:pPr>
            <a:r>
              <a:rPr lang="en-US" sz="3106">
                <a:solidFill>
                  <a:srgbClr val="F0F0F0"/>
                </a:solidFill>
                <a:latin typeface="Touvlo"/>
                <a:ea typeface="Touvlo"/>
                <a:cs typeface="Touvlo"/>
                <a:sym typeface="Touvlo"/>
              </a:rPr>
              <a:t>O repositorio com o codigo fonte e arquivos pode ser encontrado em: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DAG5_z7YoQE</dc:identifier>
  <dcterms:modified xsi:type="dcterms:W3CDTF">2011-08-01T06:04:30Z</dcterms:modified>
  <cp:revision>1</cp:revision>
  <dc:title>Exploring Mental Health Data</dc:title>
</cp:coreProperties>
</file>